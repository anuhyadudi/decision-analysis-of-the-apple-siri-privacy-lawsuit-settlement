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6" r:id="rId6"/>
    <p:sldId id="302" r:id="rId7"/>
    <p:sldId id="277" r:id="rId8"/>
    <p:sldId id="306" r:id="rId9"/>
    <p:sldId id="307" r:id="rId10"/>
    <p:sldId id="305" r:id="rId11"/>
    <p:sldId id="280" r:id="rId12"/>
    <p:sldId id="281" r:id="rId13"/>
    <p:sldId id="285" r:id="rId14"/>
    <p:sldId id="308" r:id="rId15"/>
    <p:sldId id="286" r:id="rId16"/>
    <p:sldId id="309" r:id="rId17"/>
    <p:sldId id="310" r:id="rId18"/>
    <p:sldId id="289" r:id="rId19"/>
    <p:sldId id="311" r:id="rId20"/>
    <p:sldId id="316" r:id="rId21"/>
    <p:sldId id="291" r:id="rId22"/>
    <p:sldId id="312" r:id="rId23"/>
    <p:sldId id="299" r:id="rId24"/>
    <p:sldId id="301" r:id="rId25"/>
    <p:sldId id="313" r:id="rId26"/>
    <p:sldId id="314" r:id="rId27"/>
    <p:sldId id="315" r:id="rId28"/>
    <p:sldId id="278" r:id="rId29"/>
  </p:sldIdLst>
  <p:sldSz cx="18288000" cy="10287000"/>
  <p:notesSz cx="6858000" cy="9144000"/>
  <p:embeddedFontLst>
    <p:embeddedFont>
      <p:font typeface="Proxima Nova" panose="020B0604020202020204" charset="0"/>
      <p:regular r:id="rId30"/>
    </p:embeddedFont>
    <p:embeddedFont>
      <p:font typeface="Proxima Nova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7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emandsage.com/iphone-user-statistics/#:~:text=151.3%20million%20iPhones%20were%20sold,usage%2C%20sales%2C%20and%20more" TargetMode="External"/><Relationship Id="rId3" Type="http://schemas.openxmlformats.org/officeDocument/2006/relationships/hyperlink" Target="https://www.techtarget.com/whatis/feature/Apple-lawsuit-history-explained" TargetMode="External"/><Relationship Id="rId7" Type="http://schemas.openxmlformats.org/officeDocument/2006/relationships/hyperlink" Target="https://www.statista.com/statistics/1337723/active-apple-iphone-units-in-the-us/" TargetMode="External"/><Relationship Id="rId12" Type="http://schemas.openxmlformats.org/officeDocument/2006/relationships/image" Target="../media/image2.png"/><Relationship Id="rId2" Type="http://schemas.openxmlformats.org/officeDocument/2006/relationships/hyperlink" Target="https://www.edwhitelaw.com/blog/apple-settles-95-million-lawsuit-over-siri-eavesdropping-allegation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Litigation_involving_Apple_Inc.#Consumer_class_actions" TargetMode="External"/><Relationship Id="rId11" Type="http://schemas.openxmlformats.org/officeDocument/2006/relationships/hyperlink" Target="https://www.law360.com/articles/2278805/apple-reaches-95m-privacy-deal-with-millions-of-siri-users" TargetMode="External"/><Relationship Id="rId5" Type="http://schemas.openxmlformats.org/officeDocument/2006/relationships/hyperlink" Target="https://www.forbes.com/sites/kateoflahertyuk/2025/01/06/apple-siri-eavesdropping-payout-heres-whos-eligible-and-how-to-claim/" TargetMode="External"/><Relationship Id="rId10" Type="http://schemas.openxmlformats.org/officeDocument/2006/relationships/hyperlink" Target="https://news.bloomberglaw.com/privacy-and-data-security/apple-must-face-claim-that-siri-violates-privacy-judge-rules?context=search&amp;index=5" TargetMode="External"/><Relationship Id="rId4" Type="http://schemas.openxmlformats.org/officeDocument/2006/relationships/hyperlink" Target="https://www.forbes.com/sites/aldenabbott/2024/03/22/us-v-apple-lawsuit-could-affect-us-competition-and-innovation/" TargetMode="External"/><Relationship Id="rId9" Type="http://schemas.openxmlformats.org/officeDocument/2006/relationships/hyperlink" Target="https://www.theverge.com/2025/1/2/24334268/apple-siri-recording-privacy-lawsuit-settlement-proposed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/>
          </p:cNvSpPr>
          <p:nvPr/>
        </p:nvSpPr>
        <p:spPr>
          <a:xfrm>
            <a:off x="485773" y="619014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082955" y="1139994"/>
            <a:ext cx="2122087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2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 4</a:t>
            </a:r>
            <a:endParaRPr lang="en-US" sz="2499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1" y="1960427"/>
            <a:ext cx="16230599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900" b="1" spc="-170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Privacy Lawsuit Settlement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9782" y="3508219"/>
            <a:ext cx="75884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MSE 505: Engineering Decision Analysis</a:t>
            </a:r>
          </a:p>
          <a:p>
            <a:pPr algn="ctr"/>
            <a:endParaRPr lang="en-US" sz="3200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algn="ctr"/>
            <a:r>
              <a:rPr lang="en-US" sz="32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Prof: </a:t>
            </a:r>
            <a:r>
              <a:rPr lang="en-US" sz="3200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Salpy</a:t>
            </a:r>
            <a:r>
              <a:rPr lang="en-US" sz="32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Tovar</a:t>
            </a:r>
            <a:endParaRPr lang="en-US" sz="1900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B622E5-FCEB-368D-68D3-0E021A477B14}"/>
              </a:ext>
            </a:extLst>
          </p:cNvPr>
          <p:cNvGrpSpPr/>
          <p:nvPr/>
        </p:nvGrpSpPr>
        <p:grpSpPr>
          <a:xfrm>
            <a:off x="1028701" y="7190306"/>
            <a:ext cx="4541519" cy="2485300"/>
            <a:chOff x="1028700" y="8985250"/>
            <a:chExt cx="4321082" cy="2566705"/>
          </a:xfrm>
        </p:grpSpPr>
        <p:sp>
          <p:nvSpPr>
            <p:cNvPr id="19" name="TextBox 19"/>
            <p:cNvSpPr txBox="1"/>
            <p:nvPr/>
          </p:nvSpPr>
          <p:spPr>
            <a:xfrm>
              <a:off x="1028700" y="9263380"/>
              <a:ext cx="4321082" cy="2288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endParaRPr lang="en-IN" sz="24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algn="l"/>
              <a:r>
                <a:rPr lang="en-IN" sz="2400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</a:t>
              </a:r>
              <a:r>
                <a:rPr lang="en-US" sz="2400" dirty="0" err="1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nuhya</a:t>
              </a:r>
              <a:r>
                <a:rPr lang="en-US" sz="2400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Dudi</a:t>
              </a:r>
            </a:p>
            <a:p>
              <a:pPr algn="l"/>
              <a:r>
                <a:rPr lang="en-US" sz="2400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Prajwal Suresh Kurtkoti</a:t>
              </a:r>
            </a:p>
            <a:p>
              <a:pPr algn="l"/>
              <a:r>
                <a:rPr lang="en-US" sz="2400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Poornesh Benachanahalli Suresh</a:t>
              </a:r>
            </a:p>
            <a:p>
              <a:pPr algn="l"/>
              <a:r>
                <a:rPr lang="en-US" sz="2400" dirty="0" err="1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Samradh</a:t>
              </a:r>
              <a:r>
                <a:rPr lang="en-US" sz="2400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Ganesh Shetty</a:t>
              </a:r>
            </a:p>
            <a:p>
              <a:pPr algn="l"/>
              <a:r>
                <a:rPr lang="en-US" sz="2400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Tejesh Kumar </a:t>
              </a:r>
              <a:r>
                <a:rPr lang="en-US" sz="2400" dirty="0" err="1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Nunela</a:t>
              </a:r>
              <a:endParaRPr lang="en-US" sz="17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8700" y="8985250"/>
              <a:ext cx="4321082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Presented By</a:t>
              </a:r>
              <a:endParaRPr lang="en-US" sz="18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00BE27-A460-5FCF-F2B0-D431D1DAD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238" y="5426863"/>
            <a:ext cx="4541519" cy="449894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521211" y="4247503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99709" y="3944035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21211" y="5083515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21211" y="5919527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Scope</a:t>
            </a:r>
            <a:endParaRPr lang="en-US" sz="2199" spc="-2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67108" y="4764807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67108" y="5585579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24127" y="1913582"/>
            <a:ext cx="643974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Table of Contents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E810E5-2D83-1242-711F-9A7D189B885F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BC425751-08A4-0569-B26E-72BA47D61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4">
            <a:extLst>
              <a:ext uri="{FF2B5EF4-FFF2-40B4-BE49-F238E27FC236}">
                <a16:creationId xmlns:a16="http://schemas.microsoft.com/office/drawing/2014/main" id="{0DAEFAFD-C2BC-DFDF-AE35-9077077B633F}"/>
              </a:ext>
            </a:extLst>
          </p:cNvPr>
          <p:cNvSpPr txBox="1"/>
          <p:nvPr/>
        </p:nvSpPr>
        <p:spPr>
          <a:xfrm>
            <a:off x="3490731" y="6731683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Cause and Effect Diagram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8403FF87-92CB-DF24-78D9-BA79234E17B4}"/>
              </a:ext>
            </a:extLst>
          </p:cNvPr>
          <p:cNvSpPr txBox="1"/>
          <p:nvPr/>
        </p:nvSpPr>
        <p:spPr>
          <a:xfrm>
            <a:off x="1867108" y="6417283"/>
            <a:ext cx="1392718" cy="764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A626846A-A83E-AD5B-4411-A8E945B81AE1}"/>
              </a:ext>
            </a:extLst>
          </p:cNvPr>
          <p:cNvSpPr txBox="1"/>
          <p:nvPr/>
        </p:nvSpPr>
        <p:spPr>
          <a:xfrm>
            <a:off x="3490731" y="7567695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Methodology</a:t>
            </a: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A03FB609-0E9A-AAF5-1047-85C8F0C74CE4}"/>
              </a:ext>
            </a:extLst>
          </p:cNvPr>
          <p:cNvSpPr txBox="1"/>
          <p:nvPr/>
        </p:nvSpPr>
        <p:spPr>
          <a:xfrm>
            <a:off x="3490731" y="8409877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Decision Tree Analysis</a:t>
            </a:r>
            <a:endParaRPr lang="en-US" sz="2199" spc="-2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9C0FDCA5-02C7-D55D-B8D6-304374BED866}"/>
              </a:ext>
            </a:extLst>
          </p:cNvPr>
          <p:cNvSpPr txBox="1"/>
          <p:nvPr/>
        </p:nvSpPr>
        <p:spPr>
          <a:xfrm>
            <a:off x="1836628" y="7248987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7BB5ECAD-361B-BCBE-5D93-8A9662F2DCDC}"/>
              </a:ext>
            </a:extLst>
          </p:cNvPr>
          <p:cNvSpPr txBox="1"/>
          <p:nvPr/>
        </p:nvSpPr>
        <p:spPr>
          <a:xfrm>
            <a:off x="1836628" y="8075929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06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3A0153F8-8D43-CD5D-37BA-2196CC1A864B}"/>
              </a:ext>
            </a:extLst>
          </p:cNvPr>
          <p:cNvSpPr txBox="1"/>
          <p:nvPr/>
        </p:nvSpPr>
        <p:spPr>
          <a:xfrm>
            <a:off x="10819782" y="4284983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Sensitivity Analysis</a:t>
            </a: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4BBCC18C-0924-13D6-3D1B-4C96D9220A3E}"/>
              </a:ext>
            </a:extLst>
          </p:cNvPr>
          <p:cNvSpPr txBox="1"/>
          <p:nvPr/>
        </p:nvSpPr>
        <p:spPr>
          <a:xfrm>
            <a:off x="10819782" y="5120995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Tornado Diagram</a:t>
            </a:r>
            <a:endParaRPr lang="en-US" sz="2199" spc="-2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0797F2A5-986C-B0CE-A375-B0124CB28913}"/>
              </a:ext>
            </a:extLst>
          </p:cNvPr>
          <p:cNvSpPr txBox="1"/>
          <p:nvPr/>
        </p:nvSpPr>
        <p:spPr>
          <a:xfrm>
            <a:off x="9128760" y="3955343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07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3F0564B6-7602-6FAE-ED59-8F00EDF41036}"/>
              </a:ext>
            </a:extLst>
          </p:cNvPr>
          <p:cNvSpPr txBox="1"/>
          <p:nvPr/>
        </p:nvSpPr>
        <p:spPr>
          <a:xfrm>
            <a:off x="9173862" y="4787047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08</a:t>
            </a: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3A65CF7F-F7BA-A7CA-4540-745399DE402E}"/>
              </a:ext>
            </a:extLst>
          </p:cNvPr>
          <p:cNvSpPr txBox="1"/>
          <p:nvPr/>
        </p:nvSpPr>
        <p:spPr>
          <a:xfrm>
            <a:off x="10835022" y="5889026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Risk Profile Analysis</a:t>
            </a: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2EFE154D-C7D5-F78D-D83D-F8DBD5BC7CCF}"/>
              </a:ext>
            </a:extLst>
          </p:cNvPr>
          <p:cNvSpPr txBox="1"/>
          <p:nvPr/>
        </p:nvSpPr>
        <p:spPr>
          <a:xfrm>
            <a:off x="9144000" y="5574626"/>
            <a:ext cx="1392718" cy="764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09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AAC219C9-B631-7D96-C25D-D5B244FDD8A1}"/>
              </a:ext>
            </a:extLst>
          </p:cNvPr>
          <p:cNvSpPr txBox="1"/>
          <p:nvPr/>
        </p:nvSpPr>
        <p:spPr>
          <a:xfrm>
            <a:off x="10835022" y="6725038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IN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  <a:endParaRPr lang="en-US" sz="3200" spc="-2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DFD55C94-3ACE-A424-6597-CA9F9B23FDF5}"/>
              </a:ext>
            </a:extLst>
          </p:cNvPr>
          <p:cNvSpPr txBox="1"/>
          <p:nvPr/>
        </p:nvSpPr>
        <p:spPr>
          <a:xfrm>
            <a:off x="9144000" y="6395398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10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0A7D126F-D77F-21BB-BAC4-469500D40822}"/>
              </a:ext>
            </a:extLst>
          </p:cNvPr>
          <p:cNvSpPr txBox="1"/>
          <p:nvPr/>
        </p:nvSpPr>
        <p:spPr>
          <a:xfrm>
            <a:off x="10835022" y="7491161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Recommendations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17673E01-B997-405B-F470-DE748818A82B}"/>
              </a:ext>
            </a:extLst>
          </p:cNvPr>
          <p:cNvSpPr txBox="1"/>
          <p:nvPr/>
        </p:nvSpPr>
        <p:spPr>
          <a:xfrm>
            <a:off x="10835022" y="8327173"/>
            <a:ext cx="778651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32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References</a:t>
            </a:r>
            <a:endParaRPr lang="en-US" sz="2199" spc="-2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77D04401-BE02-9E0B-E87C-A37000F5AB77}"/>
              </a:ext>
            </a:extLst>
          </p:cNvPr>
          <p:cNvSpPr txBox="1"/>
          <p:nvPr/>
        </p:nvSpPr>
        <p:spPr>
          <a:xfrm>
            <a:off x="9144000" y="7161521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11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AB18F02C-B9EB-BC9D-5A49-F8734B8FFFE5}"/>
              </a:ext>
            </a:extLst>
          </p:cNvPr>
          <p:cNvSpPr txBox="1"/>
          <p:nvPr/>
        </p:nvSpPr>
        <p:spPr>
          <a:xfrm>
            <a:off x="9189102" y="7993225"/>
            <a:ext cx="1392718" cy="76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7252A5"/>
                </a:solidFill>
                <a:latin typeface="Proxima Nova"/>
                <a:ea typeface="Proxima Nova"/>
                <a:cs typeface="Proxima Nova"/>
                <a:sym typeface="Proxima Nova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1045328" y="3485338"/>
            <a:ext cx="9927472" cy="5089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 recent years, Apple faced a class-action lawsuit involving its virtual assistant, Siri. Users alleged that Siri was recording conversations without consent, raising serious privacy concerns.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endParaRPr lang="en-US" sz="2800" spc="-2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Apple, known for strong privacy policies, risked losing user trust and faced significant legal and financial consequences. The case received wide media attention and posed potential reputational damage to Apple’s brand.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5328" y="2660731"/>
            <a:ext cx="4381500" cy="440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Introduction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2651B35-FB21-1CD2-FBDA-75F07884C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OS 19 To Transform Siri With Three Major Upgrades This Fall - AppleMagazine">
            <a:extLst>
              <a:ext uri="{FF2B5EF4-FFF2-40B4-BE49-F238E27FC236}">
                <a16:creationId xmlns:a16="http://schemas.microsoft.com/office/drawing/2014/main" id="{0C37BC20-76B0-DD43-2DA4-0C7F8F29F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6200" y="2479316"/>
            <a:ext cx="6269872" cy="532836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FF9C8-B036-3207-49FB-E8D3DE49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DDBE58-EA31-6F7E-0DF0-75CA22ED9D2A}"/>
              </a:ext>
            </a:extLst>
          </p:cNvPr>
          <p:cNvSpPr/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E3F693-D481-D66D-4A67-2441E9C3A8BA}"/>
              </a:ext>
            </a:extLst>
          </p:cNvPr>
          <p:cNvSpPr txBox="1"/>
          <p:nvPr/>
        </p:nvSpPr>
        <p:spPr>
          <a:xfrm>
            <a:off x="1045328" y="3485338"/>
            <a:ext cx="9927472" cy="6024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Apple faced a class-action lawsuit alleging that Siri was recording private conversations without user consent. The lawsuit accused Apple of violating user privacy and breaching its own privacy policies.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Key Challenges for Apple: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Legal Risk:</a:t>
            </a:r>
            <a:r>
              <a:rPr lang="en-US" sz="24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Potentially high legal costs if the case went to trial.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Financial Risk:</a:t>
            </a:r>
            <a:r>
              <a:rPr lang="en-US" sz="24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Significant settlement costs or damages could impact profitability.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Reputational Risk:</a:t>
            </a:r>
            <a:r>
              <a:rPr lang="en-US" sz="24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Damage to Apple's public image as a privacy-first company.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User Trust:</a:t>
            </a:r>
            <a:r>
              <a:rPr lang="en-US" sz="24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Loss of consumer confidence affecting long-term customer loyalty.</a:t>
            </a:r>
            <a:endParaRPr lang="en-US" sz="2800" spc="-21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78A40C2-28B9-6CBB-915E-68E6252D6494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0AB9976-4A41-3140-8736-91E33D40DAE2}"/>
              </a:ext>
            </a:extLst>
          </p:cNvPr>
          <p:cNvSpPr txBox="1"/>
          <p:nvPr/>
        </p:nvSpPr>
        <p:spPr>
          <a:xfrm>
            <a:off x="1045328" y="2660731"/>
            <a:ext cx="6422272" cy="440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Overview</a:t>
            </a:r>
            <a:endParaRPr lang="en-US" sz="6000" b="1" u="none" strike="noStrike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0514885-DED8-8612-2134-AD3103CBE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318CCEE-C4EE-4FDB-DFDA-0463B9430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11000" y="2131457"/>
            <a:ext cx="5991225" cy="602408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99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E3932-5EA1-82F3-1B6B-6F5877FD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644B35E-AC91-2D9E-F8E6-260041A340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2EEEA1E-8609-F60C-949C-C7E71A33A73E}"/>
              </a:ext>
            </a:extLst>
          </p:cNvPr>
          <p:cNvSpPr txBox="1"/>
          <p:nvPr/>
        </p:nvSpPr>
        <p:spPr>
          <a:xfrm>
            <a:off x="3704511" y="2760703"/>
            <a:ext cx="10878973" cy="966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2400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Our project aims to understand and provide a framework that any high- profile companies like Apple can use this in Legal Situations involving consumer privacy.</a:t>
            </a:r>
            <a:endParaRPr lang="en-US" sz="2000" spc="-20" dirty="0">
              <a:solidFill>
                <a:srgbClr val="000000"/>
              </a:solidFill>
              <a:latin typeface="Proxima Nova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3472C99-DC4D-9C34-4064-1FC2E0BADB06}"/>
              </a:ext>
            </a:extLst>
          </p:cNvPr>
          <p:cNvSpPr txBox="1"/>
          <p:nvPr/>
        </p:nvSpPr>
        <p:spPr>
          <a:xfrm>
            <a:off x="6617784" y="1880892"/>
            <a:ext cx="5052428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Scope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2DA4055-C4F0-88CD-97B6-E66A8DF0C207}"/>
              </a:ext>
            </a:extLst>
          </p:cNvPr>
          <p:cNvSpPr txBox="1"/>
          <p:nvPr/>
        </p:nvSpPr>
        <p:spPr>
          <a:xfrm>
            <a:off x="1491001" y="6469865"/>
            <a:ext cx="3480493" cy="1326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000" spc="-2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Apple’s strategic decision-making process in the Siri privacy lawsuit context.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F7A7024-EC5B-C4F4-D0D4-15B0DD655EB2}"/>
              </a:ext>
            </a:extLst>
          </p:cNvPr>
          <p:cNvSpPr txBox="1"/>
          <p:nvPr/>
        </p:nvSpPr>
        <p:spPr>
          <a:xfrm>
            <a:off x="13316500" y="4423718"/>
            <a:ext cx="3415471" cy="395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IN" sz="2399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</a:t>
            </a:r>
            <a:r>
              <a:rPr lang="en-US" sz="2399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cope of Study Includes</a:t>
            </a:r>
            <a:endParaRPr lang="en-US" sz="2399" b="1" u="none" strike="noStrike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ECF7855-F998-355B-0E25-A7552274F760}"/>
              </a:ext>
            </a:extLst>
          </p:cNvPr>
          <p:cNvSpPr txBox="1"/>
          <p:nvPr/>
        </p:nvSpPr>
        <p:spPr>
          <a:xfrm>
            <a:off x="1189596" y="5716340"/>
            <a:ext cx="3781898" cy="395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We Are Analyzing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2509F7E-C49D-7313-049A-042973CE59A9}"/>
              </a:ext>
            </a:extLst>
          </p:cNvPr>
          <p:cNvSpPr txBox="1"/>
          <p:nvPr/>
        </p:nvSpPr>
        <p:spPr>
          <a:xfrm>
            <a:off x="13316500" y="5083937"/>
            <a:ext cx="3875801" cy="4096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Evaluating Apple’s options: settlement vs. trial.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Assessing impacts on user privacy, financial liabilities, legal exposure, and brand reputation.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Applying structured decision analysis tools to simulate and compare outcomes.</a:t>
            </a:r>
            <a:endParaRPr lang="en-US" sz="20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8FF5CFA-8C6D-6DFE-1AE5-F7848719588C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90826A41-98BF-EEE5-57AF-4653BC33A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olved] Siri Wont Play Music From Apple Music Library - The Mac Observer">
            <a:extLst>
              <a:ext uri="{FF2B5EF4-FFF2-40B4-BE49-F238E27FC236}">
                <a16:creationId xmlns:a16="http://schemas.microsoft.com/office/drawing/2014/main" id="{611F5B13-37ED-F805-A8AD-3CC472E42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937" y="4870132"/>
            <a:ext cx="7186120" cy="377271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21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E10E6-FDE2-B772-3F0F-6D4EC159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A56B75-27EC-552E-5888-98DD946D0D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3F4A9B3-D8E6-E91F-D11F-AF805A63F57C}"/>
              </a:ext>
            </a:extLst>
          </p:cNvPr>
          <p:cNvSpPr txBox="1"/>
          <p:nvPr/>
        </p:nvSpPr>
        <p:spPr>
          <a:xfrm>
            <a:off x="4185189" y="2282324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Cause and Effect Diagram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E7E0A2A6-668C-258F-DEF9-D2AB945A8B03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C6447646-09BB-BB03-0B2C-D59B47EF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F4E13CF-D9E7-A732-947B-A91E6A10F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39439" y="3239297"/>
            <a:ext cx="15609122" cy="577618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38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FB45B-75D4-3122-016A-B48BBD3C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CF842D2-709B-612C-283B-EFD28336F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71450A2-49AE-906A-C7A6-1C7A901CBF9C}"/>
              </a:ext>
            </a:extLst>
          </p:cNvPr>
          <p:cNvSpPr txBox="1"/>
          <p:nvPr/>
        </p:nvSpPr>
        <p:spPr>
          <a:xfrm>
            <a:off x="6396360" y="1588633"/>
            <a:ext cx="5495279" cy="55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sym typeface="Proxima Nova Bold"/>
              </a:rPr>
              <a:t>Methodology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9087D4B-35A1-B780-A626-7B94C26D9696}"/>
              </a:ext>
            </a:extLst>
          </p:cNvPr>
          <p:cNvSpPr txBox="1"/>
          <p:nvPr/>
        </p:nvSpPr>
        <p:spPr>
          <a:xfrm>
            <a:off x="2514600" y="2928433"/>
            <a:ext cx="313322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Decision Tree</a:t>
            </a:r>
            <a:endParaRPr lang="en-US" sz="2399" b="1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56DDB8C-5E89-1DAF-D28A-063013DC768F}"/>
              </a:ext>
            </a:extLst>
          </p:cNvPr>
          <p:cNvSpPr txBox="1"/>
          <p:nvPr/>
        </p:nvSpPr>
        <p:spPr>
          <a:xfrm>
            <a:off x="1371600" y="3546423"/>
            <a:ext cx="5291709" cy="159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 map out Apple’s options (settlement vs. trial) and visualize possible outcomes with associated probabilities.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4FB43EE-1DE0-C1B2-DC82-CA7CC4376E32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20C6ABF7-2FAE-F418-B81A-6D15AFE4B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4">
            <a:extLst>
              <a:ext uri="{FF2B5EF4-FFF2-40B4-BE49-F238E27FC236}">
                <a16:creationId xmlns:a16="http://schemas.microsoft.com/office/drawing/2014/main" id="{DDCEBE58-4911-EB15-8C70-8AE503ED444F}"/>
              </a:ext>
            </a:extLst>
          </p:cNvPr>
          <p:cNvSpPr txBox="1"/>
          <p:nvPr/>
        </p:nvSpPr>
        <p:spPr>
          <a:xfrm>
            <a:off x="2852986" y="6162801"/>
            <a:ext cx="313322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Profile</a:t>
            </a:r>
            <a:endParaRPr lang="en-US" sz="2399" b="1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D318B0B7-1606-A672-1052-3301B12BF2AA}"/>
              </a:ext>
            </a:extLst>
          </p:cNvPr>
          <p:cNvSpPr txBox="1"/>
          <p:nvPr/>
        </p:nvSpPr>
        <p:spPr>
          <a:xfrm>
            <a:off x="2057400" y="6780791"/>
            <a:ext cx="4605909" cy="159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 evaluate the risk appetite and expected losses or gains under various scenarios for Apple.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DFFA41BF-4EA0-B762-D34C-DF0821800F0D}"/>
              </a:ext>
            </a:extLst>
          </p:cNvPr>
          <p:cNvSpPr txBox="1"/>
          <p:nvPr/>
        </p:nvSpPr>
        <p:spPr>
          <a:xfrm>
            <a:off x="12292081" y="2928433"/>
            <a:ext cx="363614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Sensitivity Analysis</a:t>
            </a:r>
            <a:endParaRPr lang="en-US" sz="2399" b="1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397A5DDE-2F49-81C0-3416-F556649044C2}"/>
              </a:ext>
            </a:extLst>
          </p:cNvPr>
          <p:cNvSpPr txBox="1"/>
          <p:nvPr/>
        </p:nvSpPr>
        <p:spPr>
          <a:xfrm>
            <a:off x="11464300" y="3546423"/>
            <a:ext cx="5291709" cy="159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 identify which variables (e.g., legal costs, public backlash) have the greatest impact on Apple’s decision.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1961A38-E4B7-638E-0BF6-1D06EA48436D}"/>
              </a:ext>
            </a:extLst>
          </p:cNvPr>
          <p:cNvSpPr txBox="1"/>
          <p:nvPr/>
        </p:nvSpPr>
        <p:spPr>
          <a:xfrm>
            <a:off x="12589261" y="6187853"/>
            <a:ext cx="372758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Probability Models</a:t>
            </a:r>
            <a:endParaRPr lang="en-US" sz="2399" b="1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40030210-CE32-4CE4-6E2C-CB171591D69D}"/>
              </a:ext>
            </a:extLst>
          </p:cNvPr>
          <p:cNvSpPr txBox="1"/>
          <p:nvPr/>
        </p:nvSpPr>
        <p:spPr>
          <a:xfrm>
            <a:off x="12150100" y="6780791"/>
            <a:ext cx="4605909" cy="159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 assign and analyze likelihoods for trial outcomes, public response, and financial damages.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C9FF168-0ACE-090F-F85B-50FEBE4F6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01521" y="2400300"/>
            <a:ext cx="4284958" cy="72579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3566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EE31A-3667-BEAC-C7C5-CF3642EF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C6B01AC-2DC3-123B-691F-43823FD8F5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14932A4-7313-7D2A-7464-A244AE1C3BF2}"/>
              </a:ext>
            </a:extLst>
          </p:cNvPr>
          <p:cNvSpPr txBox="1"/>
          <p:nvPr/>
        </p:nvSpPr>
        <p:spPr>
          <a:xfrm>
            <a:off x="4185192" y="1933202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Binomial Distribution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E68D12A-D9AD-DD1F-3B8C-DCA7929856E7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975589FC-9075-C9EA-96D8-F413D2B1F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130443C-EDA2-778A-DB43-747ED1B02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13039" y="2781300"/>
            <a:ext cx="14661920" cy="673863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5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D3EB6-98C2-A234-F43A-DEB01BA1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568D395-ED3A-F926-EC74-1CBB317135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2AB94A3-8272-5EF7-3EFD-E448C386F5F4}"/>
              </a:ext>
            </a:extLst>
          </p:cNvPr>
          <p:cNvSpPr txBox="1"/>
          <p:nvPr/>
        </p:nvSpPr>
        <p:spPr>
          <a:xfrm>
            <a:off x="3704508" y="2621293"/>
            <a:ext cx="10878973" cy="464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2800" b="1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Binomial Distribution – 100 Million Active Apple Users</a:t>
            </a:r>
            <a:endParaRPr lang="en-US" sz="2000" b="1" spc="-20" dirty="0">
              <a:solidFill>
                <a:srgbClr val="000000"/>
              </a:solidFill>
              <a:latin typeface="Proxima Nova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5A43E4B-A386-E7BF-3443-8A4CAC5AEA3C}"/>
              </a:ext>
            </a:extLst>
          </p:cNvPr>
          <p:cNvSpPr txBox="1"/>
          <p:nvPr/>
        </p:nvSpPr>
        <p:spPr>
          <a:xfrm>
            <a:off x="5161146" y="1810335"/>
            <a:ext cx="7965701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Binomial Distribution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94115E-CC08-4478-12A0-08927AC8E910}"/>
              </a:ext>
            </a:extLst>
          </p:cNvPr>
          <p:cNvSpPr txBox="1"/>
          <p:nvPr/>
        </p:nvSpPr>
        <p:spPr>
          <a:xfrm>
            <a:off x="1080459" y="4719602"/>
            <a:ext cx="4486792" cy="4362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Based on 100 million users, each with a 3% chance of filing a claim.</a:t>
            </a:r>
          </a:p>
          <a:p>
            <a:pPr marL="457200" lvl="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distribution is smooth and nearly normal due to the large sample size.</a:t>
            </a:r>
          </a:p>
          <a:p>
            <a:pPr marL="457200" lvl="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Mean and Median are centred at 3,000,000 claimants.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EE14DD9-F5CA-67C5-3194-90792F80E2FB}"/>
              </a:ext>
            </a:extLst>
          </p:cNvPr>
          <p:cNvSpPr txBox="1"/>
          <p:nvPr/>
        </p:nvSpPr>
        <p:spPr>
          <a:xfrm>
            <a:off x="7253046" y="3663031"/>
            <a:ext cx="378189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36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Observations</a:t>
            </a:r>
            <a:endParaRPr lang="en-US" sz="2399" b="1" u="none" strike="noStrike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268D2F3-683F-0D31-9D38-C669E36267C2}"/>
              </a:ext>
            </a:extLst>
          </p:cNvPr>
          <p:cNvSpPr txBox="1"/>
          <p:nvPr/>
        </p:nvSpPr>
        <p:spPr>
          <a:xfrm>
            <a:off x="12496800" y="4996601"/>
            <a:ext cx="4710741" cy="3808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4"/>
            </a:pPr>
            <a:r>
              <a:rPr lang="en-IN" sz="24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 Deviation remains ~1.7 Million.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4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63.8% probability that 3 million or fewer users will claim.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4"/>
            </a:pPr>
            <a:r>
              <a:rPr lang="en-IN" sz="24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Useful </a:t>
            </a: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 precise risk modelling and payout forecasts at population scale.</a:t>
            </a:r>
            <a:endParaRPr lang="en-US" sz="24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908D8DF2-B4DC-9090-C7D6-4E62CEF8CFC5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5A878FDC-BA08-CEB8-7FEC-6B2470791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2B4D721-59ED-9AAA-A3C5-496648C64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10464" y="4632910"/>
            <a:ext cx="5267072" cy="516831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21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57AFC-6F6E-B8D6-7E5E-E8C47994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F6ADE96-92A9-2EED-F0D4-341560A358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81ED3F5-95F7-CFBF-B99A-3505BAEE4E21}"/>
              </a:ext>
            </a:extLst>
          </p:cNvPr>
          <p:cNvSpPr txBox="1"/>
          <p:nvPr/>
        </p:nvSpPr>
        <p:spPr>
          <a:xfrm>
            <a:off x="4185192" y="1933202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Decision Tree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68BF1984-F630-7C01-52C3-1166E047C5E0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9A1EF54A-427A-4B47-F317-194CADC84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76645AE-80D9-B97B-8F4B-21D8095B0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78286" y="2781300"/>
            <a:ext cx="15131427" cy="673863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986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0A154-B742-B7CD-1DBE-D08B0D07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AD679E8-AAC4-6488-E10C-4E7994886D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BF77102-82DF-A333-2094-8DFD6A76DE6D}"/>
              </a:ext>
            </a:extLst>
          </p:cNvPr>
          <p:cNvSpPr txBox="1"/>
          <p:nvPr/>
        </p:nvSpPr>
        <p:spPr>
          <a:xfrm>
            <a:off x="3704509" y="2531951"/>
            <a:ext cx="10878973" cy="1992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999"/>
              </a:lnSpc>
              <a:spcBef>
                <a:spcPct val="0"/>
              </a:spcBef>
            </a:pPr>
            <a:r>
              <a:rPr lang="en-US" sz="2400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The decision tree outlines two main strategic options for Apple regarding the Siri lawsuit:</a:t>
            </a:r>
          </a:p>
          <a:p>
            <a:pPr marL="457200" lvl="0" indent="-457200" algn="just">
              <a:lnSpc>
                <a:spcPts val="399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b="1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Settle the case</a:t>
            </a:r>
          </a:p>
          <a:p>
            <a:pPr marL="457200" lvl="0" indent="-457200" algn="just">
              <a:lnSpc>
                <a:spcPts val="399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b="1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Go to trial</a:t>
            </a:r>
            <a:endParaRPr lang="en-US" sz="2000" b="1" spc="-20" dirty="0">
              <a:solidFill>
                <a:srgbClr val="000000"/>
              </a:solidFill>
              <a:latin typeface="Proxima Nova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D738763-C09B-D3F7-EAD7-A0A4331F68CC}"/>
              </a:ext>
            </a:extLst>
          </p:cNvPr>
          <p:cNvSpPr txBox="1"/>
          <p:nvPr/>
        </p:nvSpPr>
        <p:spPr>
          <a:xfrm>
            <a:off x="5161146" y="1810335"/>
            <a:ext cx="7965701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Decision Tree Analysis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3CD25A-1ADC-B70E-775E-F16E25F11B8B}"/>
              </a:ext>
            </a:extLst>
          </p:cNvPr>
          <p:cNvSpPr txBox="1"/>
          <p:nvPr/>
        </p:nvSpPr>
        <p:spPr>
          <a:xfrm>
            <a:off x="1037638" y="5339934"/>
            <a:ext cx="4943992" cy="317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b="1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Approved:</a:t>
            </a: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63.8% chance of less than 3% claimants, resulting in $78M cost.</a:t>
            </a: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36.2% chance of 3% - 5% claimants, with a higher payout of $130M.</a:t>
            </a:r>
          </a:p>
          <a:p>
            <a:pPr marL="457200" lvl="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2"/>
            </a:pPr>
            <a:r>
              <a:rPr lang="en-US" sz="2000" b="1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Rejected (10% chance):</a:t>
            </a: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leads to renegotiation, costing $!14M.</a:t>
            </a:r>
            <a:endParaRPr lang="en-US" sz="2000" b="1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948D260-E2A6-1C8A-F808-E43FF3CEACF3}"/>
              </a:ext>
            </a:extLst>
          </p:cNvPr>
          <p:cNvSpPr txBox="1"/>
          <p:nvPr/>
        </p:nvSpPr>
        <p:spPr>
          <a:xfrm>
            <a:off x="1524000" y="4653094"/>
            <a:ext cx="378189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32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Observations</a:t>
            </a:r>
            <a:endParaRPr lang="en-US" sz="2399" b="1" u="none" strike="noStrike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723D72A-C584-0003-CC66-A523CFE70588}"/>
              </a:ext>
            </a:extLst>
          </p:cNvPr>
          <p:cNvSpPr txBox="1"/>
          <p:nvPr/>
        </p:nvSpPr>
        <p:spPr>
          <a:xfrm>
            <a:off x="12527280" y="4950350"/>
            <a:ext cx="4710741" cy="1788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3"/>
            </a:pP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10% chance exists that the settlement could be rejected, forcing Apple to renegotiate or go to trial potentially costing up to $157.5M.</a:t>
            </a:r>
            <a:endParaRPr lang="en-US" sz="20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71DE28D2-B952-43F3-76E5-E53A6143AECA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099D93A4-91AE-44E3-8987-A5031E166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52489EE-47AA-1DBC-7D40-C28C41386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08090" y="4610100"/>
            <a:ext cx="6530900" cy="492381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4">
            <a:extLst>
              <a:ext uri="{FF2B5EF4-FFF2-40B4-BE49-F238E27FC236}">
                <a16:creationId xmlns:a16="http://schemas.microsoft.com/office/drawing/2014/main" id="{05CCCD15-4EB0-2EE5-2C1D-3551D3755210}"/>
              </a:ext>
            </a:extLst>
          </p:cNvPr>
          <p:cNvSpPr txBox="1"/>
          <p:nvPr/>
        </p:nvSpPr>
        <p:spPr>
          <a:xfrm>
            <a:off x="12527280" y="7375787"/>
            <a:ext cx="4710740" cy="1788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4"/>
            </a:pPr>
            <a:r>
              <a:rPr lang="en-US" sz="20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Apple goes directly to trial, there's a 70% chance of winning (cost: $75M) and a 30% risk of losing (cost: $157.5M).</a:t>
            </a:r>
            <a:endParaRPr lang="en-US" sz="20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332874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D799B-5E45-70FE-B539-C956153D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12DD10-64DF-5E1A-A93A-21EC441C13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FF39109-053C-DE18-C5CE-ED1630CEE914}"/>
              </a:ext>
            </a:extLst>
          </p:cNvPr>
          <p:cNvSpPr txBox="1"/>
          <p:nvPr/>
        </p:nvSpPr>
        <p:spPr>
          <a:xfrm>
            <a:off x="4647090" y="1767794"/>
            <a:ext cx="8993820" cy="556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sym typeface="Proxima Nova Bold"/>
              </a:rPr>
              <a:t>Expected Monetary Value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4CAB0C6-6BFC-A7D1-AB03-ACDB059FD195}"/>
              </a:ext>
            </a:extLst>
          </p:cNvPr>
          <p:cNvSpPr txBox="1"/>
          <p:nvPr/>
        </p:nvSpPr>
        <p:spPr>
          <a:xfrm>
            <a:off x="1128274" y="2688922"/>
            <a:ext cx="313322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Settle Option</a:t>
            </a:r>
            <a:endParaRPr lang="en-US" sz="2399" b="1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7A6DDC3-B6C5-86E4-AA40-448977A14449}"/>
              </a:ext>
            </a:extLst>
          </p:cNvPr>
          <p:cNvSpPr txBox="1"/>
          <p:nvPr/>
        </p:nvSpPr>
        <p:spPr>
          <a:xfrm>
            <a:off x="1128274" y="3366624"/>
            <a:ext cx="12512636" cy="159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90% chance of approval → EMV = (63.8% x $-78,000,000) + (36.2% x $-130,000,000)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10% chance of rejection → Renegotiation Cost = $-114,000,000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Total EMV (Settle) = $-98,541,600.00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79A6A793-2812-F611-BBB2-1ACA28BF3449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654A0ADE-CADF-D4A7-A2B9-322E1D309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762B7EB-A7CB-EA45-969C-045F5859C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4000" y="2436892"/>
            <a:ext cx="5334000" cy="736433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8F9A70-F618-6D1A-2009-DDF48DC2C0A8}"/>
              </a:ext>
            </a:extLst>
          </p:cNvPr>
          <p:cNvSpPr txBox="1"/>
          <p:nvPr/>
        </p:nvSpPr>
        <p:spPr>
          <a:xfrm>
            <a:off x="1045328" y="5580303"/>
            <a:ext cx="313322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Trial Option</a:t>
            </a:r>
            <a:endParaRPr lang="en-US" sz="2399" b="1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B087A395-7966-8125-AF8A-B8B625E21CA6}"/>
              </a:ext>
            </a:extLst>
          </p:cNvPr>
          <p:cNvSpPr txBox="1"/>
          <p:nvPr/>
        </p:nvSpPr>
        <p:spPr>
          <a:xfrm>
            <a:off x="1045328" y="6258005"/>
            <a:ext cx="12512636" cy="159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70% chance of winning → Cost = $-75,000,000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30% chance of losing → Cost = $-157,500,000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Total EMV (Trial) = $--525,000,000</a:t>
            </a:r>
            <a:endParaRPr lang="en-US" sz="2000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A6B5B-E0E7-2E3E-F45C-97BBE13E9B5C}"/>
              </a:ext>
            </a:extLst>
          </p:cNvPr>
          <p:cNvSpPr txBox="1"/>
          <p:nvPr/>
        </p:nvSpPr>
        <p:spPr>
          <a:xfrm>
            <a:off x="1045327" y="8477491"/>
            <a:ext cx="3374271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Recommendation</a:t>
            </a:r>
            <a:endParaRPr lang="en-US" sz="2399" b="1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843B065B-EE86-B2E7-5CEC-12BC3F137BD9}"/>
              </a:ext>
            </a:extLst>
          </p:cNvPr>
          <p:cNvSpPr txBox="1"/>
          <p:nvPr/>
        </p:nvSpPr>
        <p:spPr>
          <a:xfrm>
            <a:off x="1045328" y="9155193"/>
            <a:ext cx="12512636" cy="484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Choose the option with the higher (less negative) EMV → </a:t>
            </a:r>
            <a:r>
              <a:rPr lang="en-IN" sz="2400" b="1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Preferred: Settle</a:t>
            </a:r>
            <a:endParaRPr lang="en-US" sz="2000" b="1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645502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F1E12-D3C6-E3E4-CC0D-B881C80C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D276727-3085-270F-947C-2714C8029A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E94CC1C-368E-3E5E-7667-37D69F07814E}"/>
              </a:ext>
            </a:extLst>
          </p:cNvPr>
          <p:cNvSpPr txBox="1"/>
          <p:nvPr/>
        </p:nvSpPr>
        <p:spPr>
          <a:xfrm>
            <a:off x="5718293" y="1817955"/>
            <a:ext cx="6847204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Sensitivity Analysis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615B7E5-4A07-8778-70EF-1FF4D42D4C63}"/>
              </a:ext>
            </a:extLst>
          </p:cNvPr>
          <p:cNvSpPr txBox="1"/>
          <p:nvPr/>
        </p:nvSpPr>
        <p:spPr>
          <a:xfrm>
            <a:off x="816426" y="5021601"/>
            <a:ext cx="4571216" cy="3254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 the claim rate increases, the expected cost worsens significantly, showing a near-linear negative impact on financial outcomes from -$50M to $144M.</a:t>
            </a:r>
            <a:endParaRPr lang="en-US" sz="20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A7E898-6087-8184-38FF-3EB9DDC049B9}"/>
              </a:ext>
            </a:extLst>
          </p:cNvPr>
          <p:cNvSpPr txBox="1"/>
          <p:nvPr/>
        </p:nvSpPr>
        <p:spPr>
          <a:xfrm>
            <a:off x="12900358" y="5142722"/>
            <a:ext cx="4550620" cy="3254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2"/>
            </a:pPr>
            <a:r>
              <a:rPr lang="en-US" sz="24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This highlights that small increases in minimum claimant estimates can drastically increase expected costs, making claim rate a highly sensitive input.</a:t>
            </a:r>
            <a:endParaRPr lang="en-US" sz="20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93B36E9-F151-0AA6-DCF0-8056630AA783}"/>
              </a:ext>
            </a:extLst>
          </p:cNvPr>
          <p:cNvSpPr txBox="1"/>
          <p:nvPr/>
        </p:nvSpPr>
        <p:spPr>
          <a:xfrm>
            <a:off x="4054119" y="2585655"/>
            <a:ext cx="10175551" cy="46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2800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Sensitivity of Claim Rate</a:t>
            </a:r>
            <a:endParaRPr lang="en-US" sz="2400" spc="-20" dirty="0">
              <a:solidFill>
                <a:srgbClr val="000000"/>
              </a:solidFill>
              <a:latin typeface="Proxima Nova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5EBA6A6C-F643-8420-7EDC-BC375017C723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64C48B8A-6D76-3721-8507-7534F91A5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235724-8873-0886-CEC7-21765F8EF2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9800" y="3467100"/>
            <a:ext cx="6248400" cy="62106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1215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90082-B41F-7AE5-2F3A-A97BC98D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14AB7FD-B904-2630-2D61-7CB8D72DC8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0CBF76E-946B-6903-7488-AFF588174E08}"/>
              </a:ext>
            </a:extLst>
          </p:cNvPr>
          <p:cNvSpPr txBox="1"/>
          <p:nvPr/>
        </p:nvSpPr>
        <p:spPr>
          <a:xfrm>
            <a:off x="4185192" y="1933202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Sensitivity Analysis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ED175967-AB39-561F-82BE-BA71BA6721D8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04CB97B-DF83-F141-186C-4E04B5D86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83E8CD0-550E-B25A-D8A4-9E533D343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93720" y="2680156"/>
            <a:ext cx="8900559" cy="684385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675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1BB29-29CD-F67D-CB56-2C697475C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F11DDB0-D991-4372-A87C-9DD2213E97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7E35653-951B-9837-3829-0DC00D28537B}"/>
              </a:ext>
            </a:extLst>
          </p:cNvPr>
          <p:cNvSpPr txBox="1"/>
          <p:nvPr/>
        </p:nvSpPr>
        <p:spPr>
          <a:xfrm>
            <a:off x="5718293" y="1817955"/>
            <a:ext cx="6847204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Sensitivity Analysis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CABCE0D-AE44-49C3-BC61-65EFF3AFA421}"/>
              </a:ext>
            </a:extLst>
          </p:cNvPr>
          <p:cNvSpPr txBox="1"/>
          <p:nvPr/>
        </p:nvSpPr>
        <p:spPr>
          <a:xfrm>
            <a:off x="1370190" y="5352793"/>
            <a:ext cx="4952216" cy="2710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The sensitivity analysis shows that varying legal fees from 23% to 38% shifts the expected loss from –$93.5M to –$103.6M, a total swing of around $10 million. </a:t>
            </a:r>
            <a:endParaRPr lang="en-US" sz="2400" spc="-10" dirty="0">
              <a:solidFill>
                <a:srgbClr val="000000"/>
              </a:solidFill>
              <a:latin typeface="Proxima Nova"/>
              <a:sym typeface="Proxima Nova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49F572-6DC4-6F21-2079-53DCE6AC2308}"/>
              </a:ext>
            </a:extLst>
          </p:cNvPr>
          <p:cNvSpPr txBox="1"/>
          <p:nvPr/>
        </p:nvSpPr>
        <p:spPr>
          <a:xfrm>
            <a:off x="11961380" y="4077292"/>
            <a:ext cx="5259767" cy="2146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While legal fees have a moderate impact on outcomes (±25%), optimizing them can still lead to significant savings.</a:t>
            </a:r>
            <a:endParaRPr lang="en-US" sz="2400" spc="-10" dirty="0">
              <a:solidFill>
                <a:srgbClr val="000000"/>
              </a:solidFill>
              <a:latin typeface="Proxima Nova"/>
              <a:sym typeface="Proxima Nova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285404-087C-2794-DEB2-C8DABD3CE1EF}"/>
              </a:ext>
            </a:extLst>
          </p:cNvPr>
          <p:cNvSpPr txBox="1"/>
          <p:nvPr/>
        </p:nvSpPr>
        <p:spPr>
          <a:xfrm>
            <a:off x="4054119" y="2585655"/>
            <a:ext cx="10175551" cy="46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2800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Sensitivity of Legal Fees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F82712E5-7476-51A9-9707-22415895D4CD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40CB08B8-A9F6-2E13-4642-78FD98A59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0746555E-03E4-6535-2567-10D249C973F7}"/>
              </a:ext>
            </a:extLst>
          </p:cNvPr>
          <p:cNvSpPr txBox="1"/>
          <p:nvPr/>
        </p:nvSpPr>
        <p:spPr>
          <a:xfrm>
            <a:off x="11961380" y="6765533"/>
            <a:ext cx="5259767" cy="2146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3"/>
            </a:pPr>
            <a:r>
              <a:rPr lang="en-US" sz="24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Compared to Claim Rate, Legal fees has a more moderate impact, but it still plays a role in shifting the financial risk profile for Apple.</a:t>
            </a:r>
            <a:endParaRPr lang="en-US" sz="20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45CA57-E963-A225-DA99-ACC2D7B8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199" y="3676656"/>
            <a:ext cx="4424103" cy="509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2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9DCA1-49B9-7169-663F-E83614E9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EA60384-73B9-D314-6339-F887B7A366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832312-F94A-0070-0B06-586C4E71E0EE}"/>
              </a:ext>
            </a:extLst>
          </p:cNvPr>
          <p:cNvSpPr txBox="1"/>
          <p:nvPr/>
        </p:nvSpPr>
        <p:spPr>
          <a:xfrm>
            <a:off x="4185192" y="1817955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Sensitivity Analysis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8A591EF-4CE8-DB53-4ECA-5A2866067586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A82414C4-9608-AEE4-3665-AD24D4252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B0EBA7-A390-B9C5-DDE0-238DD8F10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610" y="2437330"/>
            <a:ext cx="9543514" cy="720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70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12F9E-E568-3951-BA66-39BF0531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A78DD87-F0B7-28AD-B3D0-869D16D763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ED2C1C-C051-8A07-2F1A-D7F3DC6DB121}"/>
              </a:ext>
            </a:extLst>
          </p:cNvPr>
          <p:cNvSpPr txBox="1"/>
          <p:nvPr/>
        </p:nvSpPr>
        <p:spPr>
          <a:xfrm>
            <a:off x="4185192" y="1817955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Tornado Diagram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8BDE5C44-E91D-6180-54CE-AFD7793F7A86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0ADD3D3E-84B6-89EE-E5EA-F1EA75806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448F46-0A5B-3208-6BB9-A7F7841E5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667" y="7662225"/>
            <a:ext cx="9406666" cy="21648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5916AC-EBE4-7F12-514E-8769585C8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2284878"/>
            <a:ext cx="7848600" cy="548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3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212771-AE44-4432-3FDF-98B624573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45931FC-C4FB-C4DC-EA51-7D2F938F59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89669E4-9ED4-D207-4FBE-1696544FDDC8}"/>
              </a:ext>
            </a:extLst>
          </p:cNvPr>
          <p:cNvSpPr txBox="1"/>
          <p:nvPr/>
        </p:nvSpPr>
        <p:spPr>
          <a:xfrm>
            <a:off x="5941379" y="1721450"/>
            <a:ext cx="6405240" cy="556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sym typeface="Proxima Nova Bold"/>
              </a:rPr>
              <a:t>Tornado Diagram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E8F954F-320F-90A7-7812-C416717BC0AC}"/>
              </a:ext>
            </a:extLst>
          </p:cNvPr>
          <p:cNvSpPr txBox="1"/>
          <p:nvPr/>
        </p:nvSpPr>
        <p:spPr>
          <a:xfrm>
            <a:off x="1371600" y="3546423"/>
            <a:ext cx="5291709" cy="4801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spc="-10" dirty="0">
                <a:solidFill>
                  <a:srgbClr val="000000"/>
                </a:solidFill>
                <a:latin typeface="Proxima Nova"/>
              </a:rPr>
              <a:t>Claim Rate: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400" spc="-10" dirty="0">
                <a:solidFill>
                  <a:srgbClr val="000000"/>
                </a:solidFill>
                <a:latin typeface="Proxima Nova"/>
              </a:rPr>
              <a:t>Most influential variable on the outcome.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400" spc="-10" dirty="0">
                <a:solidFill>
                  <a:srgbClr val="000000"/>
                </a:solidFill>
                <a:latin typeface="Proxima Nova"/>
              </a:rPr>
              <a:t>Changing claim rate from 6% to 0.06% shifts expected value from –$143M to –$54M.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400" spc="-10" dirty="0">
                <a:solidFill>
                  <a:srgbClr val="000000"/>
                </a:solidFill>
                <a:latin typeface="Proxima Nova"/>
              </a:rPr>
              <a:t>Total swing of $90M, representing a ±45.45% change in expected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spc="-10" dirty="0">
              <a:solidFill>
                <a:srgbClr val="000000"/>
              </a:solidFill>
              <a:latin typeface="Proxima Nov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spc="-10" dirty="0">
                <a:solidFill>
                  <a:srgbClr val="000000"/>
                </a:solidFill>
                <a:latin typeface="Proxima Nova"/>
              </a:rPr>
              <a:t>Interpretation: </a:t>
            </a:r>
            <a:r>
              <a:rPr lang="en-US" altLang="en-US" sz="2400" spc="-10" dirty="0">
                <a:solidFill>
                  <a:srgbClr val="000000"/>
                </a:solidFill>
                <a:latin typeface="Proxima Nova"/>
              </a:rPr>
              <a:t>Even slight increases in claim rate drastically increase potential losses.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58700F5-F3D8-3937-D448-A44016853E3F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BF0249A0-889F-A581-991E-49AD2AA71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18">
            <a:extLst>
              <a:ext uri="{FF2B5EF4-FFF2-40B4-BE49-F238E27FC236}">
                <a16:creationId xmlns:a16="http://schemas.microsoft.com/office/drawing/2014/main" id="{15E3C3AC-A2D2-5B71-761C-EFEECDE17208}"/>
              </a:ext>
            </a:extLst>
          </p:cNvPr>
          <p:cNvSpPr txBox="1"/>
          <p:nvPr/>
        </p:nvSpPr>
        <p:spPr>
          <a:xfrm>
            <a:off x="11806215" y="3619500"/>
            <a:ext cx="5291709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2400" b="1" spc="-10" dirty="0">
                <a:solidFill>
                  <a:srgbClr val="000000"/>
                </a:solidFill>
                <a:latin typeface="Proxima Nova"/>
              </a:rPr>
              <a:t>Legal Fees: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Less sensitive than claim rate but still impactful.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Varying legal fees from 37.5% to 22.5% changes the expected value between –$103.6M and –$93.5M.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Approx. ±5.1% change in expected value.</a:t>
            </a:r>
          </a:p>
          <a:p>
            <a:r>
              <a:rPr lang="en-US" sz="2400" b="1" spc="-10" dirty="0">
                <a:solidFill>
                  <a:srgbClr val="000000"/>
                </a:solidFill>
                <a:latin typeface="Proxima Nova"/>
              </a:rPr>
              <a:t>Interpretation: </a:t>
            </a: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Legal fee fluctuations have moderate effect on total expected loss.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1F548AB-9F9D-54FA-CAAB-D086A725B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7908" y="2543276"/>
            <a:ext cx="3952183" cy="72579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6138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A9347-5E37-C274-B9FA-260E4BCBE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9AADF54-1996-7DC3-AF9B-AE63FA7487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B2D269A-5154-5B33-1245-D97706E7756F}"/>
              </a:ext>
            </a:extLst>
          </p:cNvPr>
          <p:cNvSpPr txBox="1"/>
          <p:nvPr/>
        </p:nvSpPr>
        <p:spPr>
          <a:xfrm>
            <a:off x="4185192" y="1817955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Profil</a:t>
            </a: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 Analysis</a:t>
            </a:r>
            <a:endParaRPr lang="en-US" sz="6000" b="1" u="none" strike="noStrike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2C4AD54A-14D1-5701-3331-DD89E5D0C786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3F9D4357-A800-29D3-A15C-7DE64FE76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0AE024-5A0B-F5D2-BBC6-E8FD5817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00"/>
          <a:stretch/>
        </p:blipFill>
        <p:spPr>
          <a:xfrm>
            <a:off x="2286000" y="3771900"/>
            <a:ext cx="14108494" cy="4967715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A08A3BD7-BBF1-7D99-9B53-0AA067E5EFCE}"/>
              </a:ext>
            </a:extLst>
          </p:cNvPr>
          <p:cNvSpPr txBox="1"/>
          <p:nvPr/>
        </p:nvSpPr>
        <p:spPr>
          <a:xfrm>
            <a:off x="4054119" y="2585655"/>
            <a:ext cx="10175551" cy="46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2800" spc="-20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Reconstructed Decision tree</a:t>
            </a:r>
          </a:p>
        </p:txBody>
      </p:sp>
    </p:spTree>
    <p:extLst>
      <p:ext uri="{BB962C8B-B14F-4D97-AF65-F5344CB8AC3E}">
        <p14:creationId xmlns:p14="http://schemas.microsoft.com/office/powerpoint/2010/main" val="4255108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4F336-4CB7-529C-B923-865BFBB3B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99DF7CA-9E35-1FE9-98F9-6290BFDEA0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822F8B0-05C2-FE6B-8B16-C0D8ABF35763}"/>
              </a:ext>
            </a:extLst>
          </p:cNvPr>
          <p:cNvSpPr txBox="1"/>
          <p:nvPr/>
        </p:nvSpPr>
        <p:spPr>
          <a:xfrm>
            <a:off x="4185192" y="1817955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Profil</a:t>
            </a: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 Analysis</a:t>
            </a:r>
            <a:endParaRPr lang="en-US" sz="6000" b="1" u="none" strike="noStrike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902EE0FC-FA9B-ACE6-6993-7FCBD058B89D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55D9E9F4-09DF-23A4-7449-FBE6BE6B9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44C735-65BA-FF8A-AB23-C96041E08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158" y="2715768"/>
            <a:ext cx="11599684" cy="665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16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DCE49-9870-AC0C-C821-FAB4D217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695330-FAAF-29D0-9671-05E8039486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62E26C-FB87-5D80-9693-B687B470FDFA}"/>
              </a:ext>
            </a:extLst>
          </p:cNvPr>
          <p:cNvSpPr txBox="1"/>
          <p:nvPr/>
        </p:nvSpPr>
        <p:spPr>
          <a:xfrm>
            <a:off x="5143040" y="2247900"/>
            <a:ext cx="7997707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Profile Analysis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168D6B7-FE03-627F-0985-448F489D2DF1}"/>
              </a:ext>
            </a:extLst>
          </p:cNvPr>
          <p:cNvSpPr txBox="1"/>
          <p:nvPr/>
        </p:nvSpPr>
        <p:spPr>
          <a:xfrm>
            <a:off x="8037712" y="3462073"/>
            <a:ext cx="9220200" cy="4916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The chart shows that settling the lawsuit has a 57.42% probability of a moderate loss (−$78M), while 32.58% and 10% chances exist for larger losses (−$130M and −$114M respectively). 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In contrast, going to trial offers a 70% chance of a low loss (−$75M) if Apple wins, but also a 30% risk of a severe loss (−$1.575B) if it loses. 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Although trial has a higher chance of minimal payout, the magnitude of potential loss makes it significantly riskier than the more stable and predictable settlement option.</a:t>
            </a:r>
            <a:endParaRPr lang="en-US" sz="2400" spc="-10" dirty="0">
              <a:solidFill>
                <a:srgbClr val="000000"/>
              </a:solidFill>
              <a:latin typeface="Proxima Nova"/>
              <a:sym typeface="Proxima Nova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0FBD9C65-49CD-7DF3-401B-03639F35D2E9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91B5B414-0319-A079-E4D8-7EC862017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6A03D-D4A6-79CA-D02F-69B30D70E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601" y="4336894"/>
            <a:ext cx="6077798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47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65FEF-CB80-3A70-55B1-8A63FC4E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55EB010-2171-D421-9A3E-2255913CFF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1C4914D-2B72-17DD-9F17-1DC84E871846}"/>
              </a:ext>
            </a:extLst>
          </p:cNvPr>
          <p:cNvSpPr txBox="1"/>
          <p:nvPr/>
        </p:nvSpPr>
        <p:spPr>
          <a:xfrm>
            <a:off x="4185192" y="1817955"/>
            <a:ext cx="9917616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Profil</a:t>
            </a: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 Analysis</a:t>
            </a:r>
            <a:endParaRPr lang="en-US" sz="6000" b="1" u="none" strike="noStrike" dirty="0">
              <a:solidFill>
                <a:srgbClr val="7252A5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DC4C6834-0150-A28C-FB0A-89ABC1682AD0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C8DEC9A9-BFE3-7366-3D46-187D39F6F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DF748A-C7EB-13E4-C44D-12D8718BF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296" y="2512686"/>
            <a:ext cx="9297408" cy="706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57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A1417-6F6C-FAFB-44EF-023A6E0E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4356315-DB08-A6ED-0DE3-4F98D3B929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4209D37-E75D-7DAC-2782-ED8EC63A38F7}"/>
              </a:ext>
            </a:extLst>
          </p:cNvPr>
          <p:cNvSpPr txBox="1"/>
          <p:nvPr/>
        </p:nvSpPr>
        <p:spPr>
          <a:xfrm>
            <a:off x="5143040" y="2247900"/>
            <a:ext cx="7997707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Profile Analysis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B887C3-6345-E7A3-7873-5E60E3577F56}"/>
              </a:ext>
            </a:extLst>
          </p:cNvPr>
          <p:cNvSpPr txBox="1"/>
          <p:nvPr/>
        </p:nvSpPr>
        <p:spPr>
          <a:xfrm>
            <a:off x="8091440" y="3813210"/>
            <a:ext cx="9220200" cy="5562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Cumulative Probability Curve</a:t>
            </a:r>
            <a:endParaRPr lang="en-US" sz="2400" b="1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endParaRPr lang="en-US" sz="24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The "Go to trial" curve shows a steep jump at a $1.575B loss with 30% probability, signaling a high early risk. In contrast, the "Settle" curve increases gradually, reaching 100% certainty between −$130M and −$78M, indicating a more stable and predictable outcome. 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spc="-10" dirty="0">
                <a:solidFill>
                  <a:srgbClr val="000000"/>
                </a:solidFill>
                <a:latin typeface="Proxima Nova"/>
              </a:rPr>
              <a:t>This visual comparison highlights that settlement offers lower financial volatility, while trial exposes Apple to significant downside risk early on.</a:t>
            </a:r>
            <a:endParaRPr lang="en-US" sz="2400" spc="-10" dirty="0">
              <a:solidFill>
                <a:srgbClr val="000000"/>
              </a:solidFill>
              <a:latin typeface="Proxima Nova"/>
              <a:sym typeface="Proxima Nova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1192F531-4F3E-61E9-137E-EA03781C721E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5DAAFDA1-8311-9851-A2A3-C091430A1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35284C-8E0B-19FB-AE73-A13A007CB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1" y="3949517"/>
            <a:ext cx="7249609" cy="491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10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1E6C4-A5D0-4862-721F-A227054C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F59331F-D848-EE3B-7DB7-A3FA6A8A43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244C10B-0EE8-7E2E-53F3-FBB151AC92C3}"/>
              </a:ext>
            </a:extLst>
          </p:cNvPr>
          <p:cNvSpPr txBox="1"/>
          <p:nvPr/>
        </p:nvSpPr>
        <p:spPr>
          <a:xfrm>
            <a:off x="5143040" y="2247900"/>
            <a:ext cx="7997707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Profile Analysis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61BDFBC-87A9-D843-5B01-91A6051C2C3A}"/>
              </a:ext>
            </a:extLst>
          </p:cNvPr>
          <p:cNvSpPr txBox="1"/>
          <p:nvPr/>
        </p:nvSpPr>
        <p:spPr>
          <a:xfrm>
            <a:off x="8091440" y="3813210"/>
            <a:ext cx="9220200" cy="4832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200" b="1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Summary</a:t>
            </a:r>
            <a:endParaRPr lang="en-US" sz="2800" b="1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endParaRPr lang="en-US" sz="28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spc="-10" dirty="0">
                <a:solidFill>
                  <a:srgbClr val="000000"/>
                </a:solidFill>
                <a:latin typeface="Proxima Nova"/>
              </a:rPr>
              <a:t>Lower Risk: Settlement has a lower average loss (–$98.5M) compared to trial (–$525M).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spc="-10" dirty="0">
                <a:solidFill>
                  <a:srgbClr val="000000"/>
                </a:solidFill>
                <a:latin typeface="Proxima Nova"/>
              </a:rPr>
              <a:t>Less Variability: Standard deviation is much smaller for settlement ($24.3M) than for trial ($687.4M), indicating more predictable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spc="-10" dirty="0">
                <a:solidFill>
                  <a:srgbClr val="000000"/>
                </a:solidFill>
                <a:latin typeface="Proxima Nova"/>
              </a:rPr>
              <a:t>Higher Risk in Trial: Trial outcomes show greater skewness (–0.87) and kurtosis (1.76), signaling higher risk of extreme losses, up to –$1.575B.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AB0B640F-4163-0145-8C30-2013123D4BC4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4D7C4181-A344-A559-BE5C-F9CD3C34B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3AF47A-00BC-2ACB-26D7-5FB8CF3577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6" t="1990" r="2018"/>
          <a:stretch/>
        </p:blipFill>
        <p:spPr>
          <a:xfrm>
            <a:off x="627012" y="3684571"/>
            <a:ext cx="7005927" cy="56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60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38B74-3C10-9D46-BF4F-AB1B7172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49948DC-08D6-5260-FB66-83F65069EB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EAC9E6F-F0EC-E1A7-8466-F3C9B75CE572}"/>
              </a:ext>
            </a:extLst>
          </p:cNvPr>
          <p:cNvSpPr txBox="1"/>
          <p:nvPr/>
        </p:nvSpPr>
        <p:spPr>
          <a:xfrm>
            <a:off x="5143040" y="1790700"/>
            <a:ext cx="7997707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BBF04CE-BA09-0341-8A6E-CA941DE1206A}"/>
              </a:ext>
            </a:extLst>
          </p:cNvPr>
          <p:cNvSpPr txBox="1"/>
          <p:nvPr/>
        </p:nvSpPr>
        <p:spPr>
          <a:xfrm>
            <a:off x="1060568" y="2718933"/>
            <a:ext cx="9220200" cy="6578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IN" sz="2400" b="1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Informed Decision – Making with Analytical Tools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Applied Decision Trees, Risk Profiles, Probability Models, and Sensitivity Analysis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Found that trail may seam cheaper, but involves high downside risk and brand damage.</a:t>
            </a:r>
            <a:endParaRPr lang="en-IN" sz="24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2"/>
            </a:pPr>
            <a:r>
              <a:rPr lang="en-IN" sz="2400" b="1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Expected Financial Impact (Mean)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Settling the lawsuit has an expected cost of $98.54 million.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Going to trail presents an expected cost of 525 million.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 startAt="3"/>
            </a:pPr>
            <a:r>
              <a:rPr lang="en-IN" sz="2400" b="1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Worst – Case Scenarios (Maximum Loss)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the case goes to trail, losses could rise to $1.575 billion in the worst-case scenario.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4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Settling caps potential losses at $130 million.</a:t>
            </a:r>
            <a:endParaRPr lang="en-US" sz="20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90E028BA-81E1-0E16-E1CF-65323E97B2A0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34CB0922-DCBB-7D91-A594-40E29F570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D2C34D97-BEA3-D331-9397-3CC55616C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437" y="4048126"/>
            <a:ext cx="7067548" cy="35337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7865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400E2-9E8B-20FD-CD56-D3CE75CB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5E98CD5-9F96-BFF0-832D-C4CFB607E4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02312A-A0DD-7337-0A4F-11D268B101AA}"/>
              </a:ext>
            </a:extLst>
          </p:cNvPr>
          <p:cNvSpPr txBox="1"/>
          <p:nvPr/>
        </p:nvSpPr>
        <p:spPr>
          <a:xfrm>
            <a:off x="5143040" y="1790700"/>
            <a:ext cx="7997707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Recommendations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249BCEF-7A9D-CC80-2495-B2C6899D789F}"/>
              </a:ext>
            </a:extLst>
          </p:cNvPr>
          <p:cNvSpPr txBox="1"/>
          <p:nvPr/>
        </p:nvSpPr>
        <p:spPr>
          <a:xfrm>
            <a:off x="1981200" y="4778921"/>
            <a:ext cx="7160693" cy="2503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800" b="1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Apple should opt for early settlement to: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IN" sz="2800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Lower long-term risk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IN" sz="28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Protect brand trust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800" u="none" strike="noStrike" spc="-1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Ensure a quicker, controlled resolution</a:t>
            </a:r>
            <a:endParaRPr lang="en-US" sz="2000" u="none" strike="noStrike" spc="-1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9868EAB9-5051-B3F3-4C8C-EBDD6D0C862B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5F0167EE-28AE-58C9-8399-EB94BBA04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4DED16-72F0-F1A6-8C39-5F889DF38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8000" y="2837666"/>
            <a:ext cx="6386336" cy="63863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253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7E55A-D8D7-1633-F0BE-F9270790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65CD926-7DBF-3097-8C66-0EFF90FBB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775" y="485775"/>
            <a:ext cx="17316450" cy="9315450"/>
          </a:xfrm>
          <a:prstGeom prst="rect">
            <a:avLst/>
          </a:prstGeom>
          <a:solidFill>
            <a:srgbClr val="EBEB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1E729AF-8010-4A56-32AA-5ABDB0640C5D}"/>
              </a:ext>
            </a:extLst>
          </p:cNvPr>
          <p:cNvSpPr txBox="1"/>
          <p:nvPr/>
        </p:nvSpPr>
        <p:spPr>
          <a:xfrm>
            <a:off x="5143040" y="1790700"/>
            <a:ext cx="7997707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252A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References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9A60538-E31E-7978-CFBB-98BA8F24C1E0}"/>
              </a:ext>
            </a:extLst>
          </p:cNvPr>
          <p:cNvSpPr txBox="1"/>
          <p:nvPr/>
        </p:nvSpPr>
        <p:spPr>
          <a:xfrm>
            <a:off x="1045328" y="2760436"/>
            <a:ext cx="16328272" cy="662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Sterkel, C. (2025, January 2).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settles $95 million lawsuit over Siri eavesdropping allegations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Ed White Law.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https://www.edwhitelaw.com/blog/apple-settles-95-million-lawsuit-over-siri-eavesdropping-allegations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Kerner, S. M. (2025, January 3).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lawsuit history explained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7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WhatIs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https://www.techtarget.com/whatis/feature/Apple-lawsuit-history-explained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Abbott, A. (2024, May 9).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U.S. v. Apple lawsuit could affect American competition and Innovation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Forbes.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https://www.forbes.com/sites/aldenabbott/2024/03/22/us-v-apple-lawsuit-could-affect-us-competition-and-innovation/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O’Flaherty, K. (2025, January 6).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Siri eavesdropping payout - here’s who’s eligible and how to claim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Forbes.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https://www.forbes.com/sites/kateoflahertyuk/2025/01/06/apple-siri-eavesdropping-payout-heres-whos-eligible-and-how-to-claim/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Wikimedia Foundation. (2025, March 16).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Litigation involving Apple Inc..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Wikipedia.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https://en.wikipedia.org/wiki/Litigation_involving_Apple_Inc.#Consumer_class_actions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Laricchia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 (2024, May 17).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U.S. number of active iPhone Units 2023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Statista.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https://www.statista.com/statistics/1337723/active-apple-iphone-units-in-the-us/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Singh, S. (2025, March 27). </a:t>
            </a:r>
            <a:r>
              <a:rPr lang="en-US" sz="170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IPhone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&amp; sales statistics 2025 [worldwide data]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7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DemandSage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https://www.demandsage.com/iphone-user-statistics/#:~:text=151.3%20million%20iPhones%20were%20sold,usage%2C%20sales%2C%20and%20more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Robertson, A. (2025, January 2).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will pay $95 million to people who were spied on by Siri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Verge.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https://www.theverge.com/2025/1/2/24334268/apple-siri-recording-privacy-lawsuit-settlement-proposed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Lin, A. (2021, September 2).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must face claim that Siri violates privacy, judge says (1)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Bloomberg Law. 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https://news.bloomberglaw.com/privacy-and-data-security/apple-must-face-claim-that-siri-violates-privacy-judge-rules?context=search&amp;index=5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Clough, C. (2025, January 2). </a:t>
            </a:r>
            <a:r>
              <a:rPr lang="en-US" sz="17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reaches $95m privacy deal with millions of Siri users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Law360.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https://www.law360.com/articles/2278805/apple-reaches-95m-privacy-deal-with-millions-of-siri-users</a:t>
            </a:r>
            <a:r>
              <a:rPr lang="en-US" sz="1600" dirty="0"/>
              <a:t> </a:t>
            </a:r>
            <a:endParaRPr lang="en-US" sz="1600" dirty="0">
              <a:effectLst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13F79F44-88CB-EECE-9147-284B87B254A3}"/>
              </a:ext>
            </a:extLst>
          </p:cNvPr>
          <p:cNvSpPr txBox="1"/>
          <p:nvPr/>
        </p:nvSpPr>
        <p:spPr>
          <a:xfrm>
            <a:off x="1784469" y="960989"/>
            <a:ext cx="2635130" cy="85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507FA1A4-EEEC-A22D-3074-BE812E97E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28" y="880573"/>
            <a:ext cx="663445" cy="6572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743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35DF7-A9B3-E5CA-4234-83868567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1A60491-2CD1-6E5D-5C65-B034A9110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556" y="454609"/>
            <a:ext cx="17316887" cy="9377782"/>
          </a:xfrm>
          <a:prstGeom prst="rect">
            <a:avLst/>
          </a:prstGeom>
          <a:solidFill>
            <a:srgbClr val="EFEFE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B6F268D-6941-75BB-0DE5-5144929E5E7B}"/>
              </a:ext>
            </a:extLst>
          </p:cNvPr>
          <p:cNvSpPr txBox="1"/>
          <p:nvPr/>
        </p:nvSpPr>
        <p:spPr>
          <a:xfrm>
            <a:off x="4136250" y="4573588"/>
            <a:ext cx="10015500" cy="137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  <a:spcBef>
                <a:spcPct val="0"/>
              </a:spcBef>
            </a:pPr>
            <a:r>
              <a:rPr lang="en-US" sz="14400" b="1" u="none" strike="noStrike" spc="-199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  <a:endParaRPr lang="en-US" sz="9999" b="1" u="none" strike="noStrike" spc="-199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C73EEC17-4CD0-0AB4-FA59-3D19BF9EC05F}"/>
              </a:ext>
            </a:extLst>
          </p:cNvPr>
          <p:cNvSpPr txBox="1"/>
          <p:nvPr/>
        </p:nvSpPr>
        <p:spPr>
          <a:xfrm>
            <a:off x="7532370" y="1240196"/>
            <a:ext cx="2635130" cy="40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Apple Siri Lawsuit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889EC67-C69E-6C4A-DC30-1B476CBE0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155" y="1115645"/>
            <a:ext cx="663445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71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</TotalTime>
  <Words>1885</Words>
  <Application>Microsoft Office PowerPoint</Application>
  <PresentationFormat>Custom</PresentationFormat>
  <Paragraphs>196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Proxima Nova Bold</vt:lpstr>
      <vt:lpstr>Wingdings</vt:lpstr>
      <vt:lpstr>Arial</vt:lpstr>
      <vt:lpstr>Times New Roman</vt:lpstr>
      <vt:lpstr>Calibri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Gray Clean Product Launch Mockups Presentation</dc:title>
  <dc:creator>Poornesh Suresh</dc:creator>
  <cp:lastModifiedBy>Dudi Anuhya</cp:lastModifiedBy>
  <cp:revision>12</cp:revision>
  <dcterms:created xsi:type="dcterms:W3CDTF">2006-08-16T00:00:00Z</dcterms:created>
  <dcterms:modified xsi:type="dcterms:W3CDTF">2025-04-30T22:43:48Z</dcterms:modified>
  <dc:identifier>DAGmCzLBXg0</dc:identifier>
</cp:coreProperties>
</file>